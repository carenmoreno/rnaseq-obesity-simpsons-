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8" r:id="rId5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96C9"/>
    <a:srgbClr val="59C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BE19FF-0AAC-49E1-A32B-E067226881E2}" v="12" dt="2026-05-24T14:06:20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30" autoAdjust="0"/>
    <p:restoredTop sz="94703"/>
  </p:normalViewPr>
  <p:slideViewPr>
    <p:cSldViewPr snapToGrid="0">
      <p:cViewPr>
        <p:scale>
          <a:sx n="57" d="100"/>
          <a:sy n="57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9784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148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885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24/05/2026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170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24/05/2026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3202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24/05/2026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9279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24/05/2026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4256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24/05/2026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4848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24/05/2026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756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3612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07249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A1BBD-1589-104E-89D9-FD291A5EDB06}" type="datetimeFigureOut">
              <a:rPr lang="es-ES_tradnl" smtClean="0"/>
              <a:t>24/05/2026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3253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chemeClr val="bg1"/>
            </a:gs>
            <a:gs pos="99000">
              <a:srgbClr val="59C2E3">
                <a:alpha val="2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A72C3-DD61-5B61-E46F-EDD19D1F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E1AA44F9-4D9B-B58B-32B6-5CC8410E7CBE}"/>
              </a:ext>
            </a:extLst>
          </p:cNvPr>
          <p:cNvGrpSpPr/>
          <p:nvPr/>
        </p:nvGrpSpPr>
        <p:grpSpPr>
          <a:xfrm>
            <a:off x="226455" y="2589684"/>
            <a:ext cx="5084099" cy="3577795"/>
            <a:chOff x="225180" y="3930299"/>
            <a:chExt cx="14791650" cy="3577795"/>
          </a:xfrm>
        </p:grpSpPr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C4D1F524-44A5-F16E-9FD3-EE5EA5819EAD}"/>
                </a:ext>
              </a:extLst>
            </p:cNvPr>
            <p:cNvSpPr/>
            <p:nvPr/>
          </p:nvSpPr>
          <p:spPr>
            <a:xfrm>
              <a:off x="225180" y="4193657"/>
              <a:ext cx="14791650" cy="3314437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MX" sz="1600" i="1" dirty="0">
                  <a:solidFill>
                    <a:schemeClr val="tx1"/>
                  </a:solidFill>
                </a:rPr>
                <a:t>La obesidad presenta un fuerte componente genético. Mediante RNA-</a:t>
              </a:r>
              <a:r>
                <a:rPr lang="es-MX" sz="1600" i="1" dirty="0" err="1">
                  <a:solidFill>
                    <a:schemeClr val="tx1"/>
                  </a:solidFill>
                </a:rPr>
                <a:t>seq</a:t>
              </a:r>
              <a:r>
                <a:rPr lang="es-MX" sz="1600" i="1" dirty="0">
                  <a:solidFill>
                    <a:schemeClr val="tx1"/>
                  </a:solidFill>
                </a:rPr>
                <a:t> se analizan muestras simuladas sobre un panel de 37 genes de obesidad. </a:t>
              </a:r>
              <a:r>
                <a:rPr lang="es-MX" sz="1600" b="1" i="1" dirty="0">
                  <a:solidFill>
                    <a:schemeClr val="tx1"/>
                  </a:solidFill>
                </a:rPr>
                <a:t>Hipótesis:</a:t>
              </a:r>
              <a:r>
                <a:rPr lang="es-MX" sz="1600" i="1" dirty="0">
                  <a:solidFill>
                    <a:schemeClr val="tx1"/>
                  </a:solidFill>
                </a:rPr>
                <a:t> el grupo Obeso2 presenta un perfil de expresión distinguible del </a:t>
              </a:r>
              <a:r>
                <a:rPr lang="es-MX" sz="1600" i="1" dirty="0" err="1">
                  <a:solidFill>
                    <a:schemeClr val="tx1"/>
                  </a:solidFill>
                </a:rPr>
                <a:t>Normopeso</a:t>
              </a:r>
              <a:r>
                <a:rPr lang="es-MX" sz="1600" i="1" dirty="0">
                  <a:solidFill>
                    <a:schemeClr val="tx1"/>
                  </a:solidFill>
                </a:rPr>
                <a:t>, con desregulación de genes clave del control del apetito. </a:t>
              </a:r>
              <a:r>
                <a:rPr lang="es-MX" sz="1600" b="1" i="1" dirty="0">
                  <a:solidFill>
                    <a:schemeClr val="tx1"/>
                  </a:solidFill>
                </a:rPr>
                <a:t>Objetivo:</a:t>
              </a:r>
              <a:r>
                <a:rPr lang="es-MX" sz="1600" i="1" dirty="0">
                  <a:solidFill>
                    <a:schemeClr val="tx1"/>
                  </a:solidFill>
                </a:rPr>
                <a:t> identificar los genes diferencialmente expresados entre ambos grupos mediante dos pipelines independientes y discutir su relevancia biológica en obesidad.</a:t>
              </a:r>
              <a:endParaRPr lang="es-ES_tradnl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15811AE5-F929-12ED-D44E-9D1519220278}"/>
                </a:ext>
              </a:extLst>
            </p:cNvPr>
            <p:cNvSpPr/>
            <p:nvPr/>
          </p:nvSpPr>
          <p:spPr>
            <a:xfrm>
              <a:off x="518257" y="3930299"/>
              <a:ext cx="950017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INTRODUCCIÓN</a:t>
              </a: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88FB225B-2F62-B172-D75B-E02EF3836A0E}"/>
              </a:ext>
            </a:extLst>
          </p:cNvPr>
          <p:cNvGrpSpPr/>
          <p:nvPr/>
        </p:nvGrpSpPr>
        <p:grpSpPr>
          <a:xfrm>
            <a:off x="5411289" y="2610328"/>
            <a:ext cx="9130333" cy="3557151"/>
            <a:chOff x="207596" y="6110487"/>
            <a:chExt cx="14668990" cy="4131967"/>
          </a:xfrm>
        </p:grpSpPr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FC179AD0-ED02-975F-E151-1E1C61EAD8F2}"/>
                </a:ext>
              </a:extLst>
            </p:cNvPr>
            <p:cNvSpPr/>
            <p:nvPr/>
          </p:nvSpPr>
          <p:spPr>
            <a:xfrm>
              <a:off x="207596" y="6427009"/>
              <a:ext cx="14668990" cy="3815445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" sz="1600" i="1" dirty="0" smtClean="0">
                  <a:solidFill>
                    <a:schemeClr val="tx1"/>
                  </a:solidFill>
                </a:rPr>
                <a:t>Implementamos </a:t>
              </a:r>
              <a:r>
                <a:rPr lang="es-ES" sz="1600" i="1" dirty="0">
                  <a:solidFill>
                    <a:schemeClr val="tx1"/>
                  </a:solidFill>
                </a:rPr>
                <a:t>dos pipelines independientes sobre los mismos datos de entrada</a:t>
              </a:r>
              <a:r>
                <a:rPr lang="es-ES" sz="1600" i="1" dirty="0" smtClean="0">
                  <a:solidFill>
                    <a:schemeClr val="tx1"/>
                  </a:solidFill>
                </a:rPr>
                <a:t>.</a:t>
              </a:r>
            </a:p>
            <a:p>
              <a:pPr algn="just">
                <a:lnSpc>
                  <a:spcPct val="80000"/>
                </a:lnSpc>
              </a:pPr>
              <a:r>
                <a:rPr lang="es-ES" sz="1600" b="1" i="1" u="sng" dirty="0" smtClean="0">
                  <a:solidFill>
                    <a:schemeClr val="tx1"/>
                  </a:solidFill>
                </a:rPr>
                <a:t>Pipeline A.</a:t>
              </a:r>
              <a:r>
                <a:rPr lang="es-ES" sz="1600" i="1" dirty="0" smtClean="0">
                  <a:solidFill>
                    <a:schemeClr val="tx1"/>
                  </a:solidFill>
                </a:rPr>
                <a:t> </a:t>
              </a:r>
              <a:r>
                <a:rPr lang="es-ES" sz="1600" i="1" dirty="0" err="1">
                  <a:solidFill>
                    <a:schemeClr val="tx1"/>
                  </a:solidFill>
                </a:rPr>
                <a:t>Pseudoalineamiento</a:t>
              </a:r>
              <a:r>
                <a:rPr lang="es-ES" sz="1600" i="1" dirty="0">
                  <a:solidFill>
                    <a:schemeClr val="tx1"/>
                  </a:solidFill>
                </a:rPr>
                <a:t> (R 4.6.0/</a:t>
              </a:r>
              <a:r>
                <a:rPr lang="es-ES" sz="1600" i="1" dirty="0" err="1">
                  <a:solidFill>
                    <a:schemeClr val="tx1"/>
                  </a:solidFill>
                </a:rPr>
                <a:t>Bioconductor</a:t>
              </a:r>
              <a:r>
                <a:rPr lang="es-ES" sz="1600" i="1" dirty="0">
                  <a:solidFill>
                    <a:schemeClr val="tx1"/>
                  </a:solidFill>
                </a:rPr>
                <a:t>): Control de calidad con </a:t>
              </a:r>
              <a:r>
                <a:rPr lang="es-ES" sz="1600" i="1" dirty="0" err="1">
                  <a:solidFill>
                    <a:schemeClr val="tx1"/>
                  </a:solidFill>
                </a:rPr>
                <a:t>FastQC</a:t>
              </a:r>
              <a:r>
                <a:rPr lang="es-ES" sz="1600" i="1" dirty="0">
                  <a:solidFill>
                    <a:schemeClr val="tx1"/>
                  </a:solidFill>
                </a:rPr>
                <a:t> v0.12.1 (Q≈35–36, 151 </a:t>
              </a:r>
              <a:r>
                <a:rPr lang="es-ES" sz="1600" i="1" dirty="0" err="1">
                  <a:solidFill>
                    <a:schemeClr val="tx1"/>
                  </a:solidFill>
                </a:rPr>
                <a:t>pb</a:t>
              </a:r>
              <a:r>
                <a:rPr lang="es-ES" sz="1600" i="1" dirty="0">
                  <a:solidFill>
                    <a:schemeClr val="tx1"/>
                  </a:solidFill>
                </a:rPr>
                <a:t>, sin adaptadores). Cuantificación de transcritos procesada con DESeq2 (Obeso2 vs </a:t>
              </a:r>
              <a:r>
                <a:rPr lang="es-ES" sz="1600" i="1" dirty="0" err="1">
                  <a:solidFill>
                    <a:schemeClr val="tx1"/>
                  </a:solidFill>
                </a:rPr>
                <a:t>Normopeso</a:t>
              </a:r>
              <a:r>
                <a:rPr lang="es-ES" sz="1600" i="1" dirty="0">
                  <a:solidFill>
                    <a:schemeClr val="tx1"/>
                  </a:solidFill>
                </a:rPr>
                <a:t>; </a:t>
              </a:r>
              <a:r>
                <a:rPr lang="es-ES" sz="1600" i="1" dirty="0" err="1">
                  <a:solidFill>
                    <a:schemeClr val="tx1"/>
                  </a:solidFill>
                </a:rPr>
                <a:t>padj</a:t>
              </a:r>
              <a:r>
                <a:rPr lang="es-ES" sz="1600" i="1" dirty="0">
                  <a:solidFill>
                    <a:schemeClr val="tx1"/>
                  </a:solidFill>
                </a:rPr>
                <a:t> &lt; 0.05). Enriquecimiento funcional con </a:t>
              </a:r>
              <a:r>
                <a:rPr lang="es-ES" sz="1600" i="1" dirty="0" err="1">
                  <a:solidFill>
                    <a:schemeClr val="tx1"/>
                  </a:solidFill>
                </a:rPr>
                <a:t>clusterProfiler</a:t>
              </a:r>
              <a:r>
                <a:rPr lang="es-ES" sz="1600" i="1" dirty="0">
                  <a:solidFill>
                    <a:schemeClr val="tx1"/>
                  </a:solidFill>
                </a:rPr>
                <a:t> (ORA GO BP y </a:t>
              </a:r>
              <a:r>
                <a:rPr lang="es-ES" sz="1600" i="1" dirty="0" err="1">
                  <a:solidFill>
                    <a:schemeClr val="tx1"/>
                  </a:solidFill>
                </a:rPr>
                <a:t>Reactome</a:t>
              </a:r>
              <a:r>
                <a:rPr lang="es-ES" sz="1600" i="1" dirty="0">
                  <a:solidFill>
                    <a:schemeClr val="tx1"/>
                  </a:solidFill>
                </a:rPr>
                <a:t>). Paquetes: DESeq2, </a:t>
              </a:r>
              <a:r>
                <a:rPr lang="es-ES" sz="1600" i="1" dirty="0" err="1">
                  <a:solidFill>
                    <a:schemeClr val="tx1"/>
                  </a:solidFill>
                </a:rPr>
                <a:t>tximport</a:t>
              </a:r>
              <a:r>
                <a:rPr lang="es-ES" sz="1600" i="1" dirty="0">
                  <a:solidFill>
                    <a:schemeClr val="tx1"/>
                  </a:solidFill>
                </a:rPr>
                <a:t>, </a:t>
              </a:r>
              <a:r>
                <a:rPr lang="es-ES" sz="1600" i="1" dirty="0" err="1">
                  <a:solidFill>
                    <a:schemeClr val="tx1"/>
                  </a:solidFill>
                </a:rPr>
                <a:t>EnhancedVolcano</a:t>
              </a:r>
              <a:r>
                <a:rPr lang="es-ES" sz="1600" i="1" dirty="0">
                  <a:solidFill>
                    <a:schemeClr val="tx1"/>
                  </a:solidFill>
                </a:rPr>
                <a:t>, </a:t>
              </a:r>
              <a:r>
                <a:rPr lang="es-ES" sz="1600" i="1" dirty="0" err="1">
                  <a:solidFill>
                    <a:schemeClr val="tx1"/>
                  </a:solidFill>
                </a:rPr>
                <a:t>pheatmap</a:t>
              </a:r>
              <a:r>
                <a:rPr lang="es-ES" sz="1600" i="1" dirty="0">
                  <a:solidFill>
                    <a:schemeClr val="tx1"/>
                  </a:solidFill>
                </a:rPr>
                <a:t>, </a:t>
              </a:r>
              <a:r>
                <a:rPr lang="es-ES" sz="1600" i="1" dirty="0" err="1">
                  <a:solidFill>
                    <a:schemeClr val="tx1"/>
                  </a:solidFill>
                </a:rPr>
                <a:t>clusterProfiler</a:t>
              </a:r>
              <a:r>
                <a:rPr lang="es-ES" sz="1600" i="1" dirty="0" smtClean="0">
                  <a:solidFill>
                    <a:schemeClr val="tx1"/>
                  </a:solidFill>
                </a:rPr>
                <a:t>.</a:t>
              </a:r>
            </a:p>
            <a:p>
              <a:pPr algn="just">
                <a:lnSpc>
                  <a:spcPct val="80000"/>
                </a:lnSpc>
              </a:pPr>
              <a:r>
                <a:rPr lang="es-ES" sz="1600" b="1" i="1" u="sng" dirty="0" smtClean="0">
                  <a:solidFill>
                    <a:schemeClr val="tx1"/>
                  </a:solidFill>
                </a:rPr>
                <a:t>Pipeline B</a:t>
              </a:r>
              <a:r>
                <a:rPr lang="es-ES" sz="1600" i="1" dirty="0" smtClean="0">
                  <a:solidFill>
                    <a:schemeClr val="tx1"/>
                  </a:solidFill>
                </a:rPr>
                <a:t>. </a:t>
              </a:r>
              <a:r>
                <a:rPr lang="es-ES" sz="1600" i="1" dirty="0">
                  <a:solidFill>
                    <a:schemeClr val="tx1"/>
                  </a:solidFill>
                </a:rPr>
                <a:t>Alineamiento tradicional (R 4.4.1/</a:t>
              </a:r>
              <a:r>
                <a:rPr lang="es-ES" sz="1600" i="1" dirty="0" err="1">
                  <a:solidFill>
                    <a:schemeClr val="tx1"/>
                  </a:solidFill>
                </a:rPr>
                <a:t>Bioconductor</a:t>
              </a:r>
              <a:r>
                <a:rPr lang="es-ES" sz="1600" i="1" dirty="0">
                  <a:solidFill>
                    <a:schemeClr val="tx1"/>
                  </a:solidFill>
                </a:rPr>
                <a:t>): Control de calidad con </a:t>
              </a:r>
              <a:r>
                <a:rPr lang="es-ES" sz="1600" i="1" dirty="0" err="1">
                  <a:solidFill>
                    <a:schemeClr val="tx1"/>
                  </a:solidFill>
                </a:rPr>
                <a:t>Rqc</a:t>
              </a:r>
              <a:r>
                <a:rPr lang="es-ES" sz="1600" i="1" dirty="0">
                  <a:solidFill>
                    <a:schemeClr val="tx1"/>
                  </a:solidFill>
                </a:rPr>
                <a:t> (Q≈35). Procesamiento single-</a:t>
              </a:r>
              <a:r>
                <a:rPr lang="es-ES" sz="1600" i="1" dirty="0" err="1">
                  <a:solidFill>
                    <a:schemeClr val="tx1"/>
                  </a:solidFill>
                </a:rPr>
                <a:t>end</a:t>
              </a:r>
              <a:r>
                <a:rPr lang="es-ES" sz="1600" i="1" dirty="0">
                  <a:solidFill>
                    <a:schemeClr val="tx1"/>
                  </a:solidFill>
                </a:rPr>
                <a:t> por inconsistencias R1/R2 en Obeso2. Alineamiento con </a:t>
              </a:r>
              <a:r>
                <a:rPr lang="es-ES" sz="1600" i="1" dirty="0" err="1">
                  <a:solidFill>
                    <a:schemeClr val="tx1"/>
                  </a:solidFill>
                </a:rPr>
                <a:t>Rsubread</a:t>
              </a:r>
              <a:r>
                <a:rPr lang="es-ES" sz="1600" i="1" dirty="0">
                  <a:solidFill>
                    <a:schemeClr val="tx1"/>
                  </a:solidFill>
                </a:rPr>
                <a:t>::</a:t>
              </a:r>
              <a:r>
                <a:rPr lang="es-ES" sz="1600" i="1" dirty="0" err="1">
                  <a:solidFill>
                    <a:schemeClr val="tx1"/>
                  </a:solidFill>
                </a:rPr>
                <a:t>align</a:t>
              </a:r>
              <a:r>
                <a:rPr lang="es-ES" sz="1600" i="1" dirty="0">
                  <a:solidFill>
                    <a:schemeClr val="tx1"/>
                  </a:solidFill>
                </a:rPr>
                <a:t> (≥99.7% mapeo); cuantificación con </a:t>
              </a:r>
              <a:r>
                <a:rPr lang="es-ES" sz="1600" i="1" dirty="0" err="1">
                  <a:solidFill>
                    <a:schemeClr val="tx1"/>
                  </a:solidFill>
                </a:rPr>
                <a:t>featureCounts</a:t>
              </a:r>
              <a:r>
                <a:rPr lang="es-ES" sz="1600" i="1" dirty="0">
                  <a:solidFill>
                    <a:schemeClr val="tx1"/>
                  </a:solidFill>
                </a:rPr>
                <a:t> (anotación SAF, </a:t>
              </a:r>
              <a:r>
                <a:rPr lang="es-ES" sz="1600" i="1" dirty="0" err="1">
                  <a:solidFill>
                    <a:schemeClr val="tx1"/>
                  </a:solidFill>
                </a:rPr>
                <a:t>multi-mapping</a:t>
              </a:r>
              <a:r>
                <a:rPr lang="es-ES" sz="1600" i="1" dirty="0">
                  <a:solidFill>
                    <a:schemeClr val="tx1"/>
                  </a:solidFill>
                </a:rPr>
                <a:t> fraccionado); expresión diferencial con DESeq2 (test de </a:t>
              </a:r>
              <a:r>
                <a:rPr lang="es-ES" sz="1600" i="1" dirty="0" err="1">
                  <a:solidFill>
                    <a:schemeClr val="tx1"/>
                  </a:solidFill>
                </a:rPr>
                <a:t>Wald</a:t>
              </a:r>
              <a:r>
                <a:rPr lang="es-ES" sz="1600" i="1" dirty="0">
                  <a:solidFill>
                    <a:schemeClr val="tx1"/>
                  </a:solidFill>
                </a:rPr>
                <a:t>; </a:t>
              </a:r>
              <a:r>
                <a:rPr lang="es-ES" sz="1600" i="1" dirty="0" err="1">
                  <a:solidFill>
                    <a:schemeClr val="tx1"/>
                  </a:solidFill>
                </a:rPr>
                <a:t>padj</a:t>
              </a:r>
              <a:r>
                <a:rPr lang="es-ES" sz="1600" i="1" dirty="0">
                  <a:solidFill>
                    <a:schemeClr val="tx1"/>
                  </a:solidFill>
                </a:rPr>
                <a:t> &lt; 0.05, |log2FC| &gt; 0.58).</a:t>
              </a:r>
              <a:endParaRPr lang="es-ES_tradnl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15" name="Rectángulo redondeado 14">
              <a:extLst>
                <a:ext uri="{FF2B5EF4-FFF2-40B4-BE49-F238E27FC236}">
                  <a16:creationId xmlns:a16="http://schemas.microsoft.com/office/drawing/2014/main" id="{51C45BDA-AC75-EE13-A211-698BB3CF2EDC}"/>
                </a:ext>
              </a:extLst>
            </p:cNvPr>
            <p:cNvSpPr/>
            <p:nvPr/>
          </p:nvSpPr>
          <p:spPr>
            <a:xfrm>
              <a:off x="500674" y="6110487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METODOLOGÍA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449220D-F047-A208-80A5-ECB282B1A62A}"/>
              </a:ext>
            </a:extLst>
          </p:cNvPr>
          <p:cNvGrpSpPr/>
          <p:nvPr/>
        </p:nvGrpSpPr>
        <p:grpSpPr>
          <a:xfrm>
            <a:off x="145256" y="6352611"/>
            <a:ext cx="14668990" cy="10253090"/>
            <a:chOff x="225180" y="8290675"/>
            <a:chExt cx="14668990" cy="9782603"/>
          </a:xfrm>
        </p:grpSpPr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F757B5F2-E57A-7217-E1AA-4D7E21F42FA0}"/>
                </a:ext>
              </a:extLst>
            </p:cNvPr>
            <p:cNvSpPr/>
            <p:nvPr/>
          </p:nvSpPr>
          <p:spPr>
            <a:xfrm>
              <a:off x="225180" y="8389908"/>
              <a:ext cx="14668990" cy="9683370"/>
            </a:xfrm>
            <a:prstGeom prst="roundRect">
              <a:avLst>
                <a:gd name="adj" fmla="val 1988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" sz="1600" i="1" dirty="0">
                  <a:solidFill>
                    <a:schemeClr val="tx1"/>
                  </a:solidFill>
                </a:rPr>
                <a:t>Pipeline A (6 </a:t>
              </a:r>
              <a:r>
                <a:rPr lang="es-ES" sz="1600" i="1" dirty="0" err="1">
                  <a:solidFill>
                    <a:schemeClr val="tx1"/>
                  </a:solidFill>
                </a:rPr>
                <a:t>DEGs</a:t>
              </a:r>
              <a:r>
                <a:rPr lang="es-ES" sz="1600" i="1" dirty="0">
                  <a:solidFill>
                    <a:schemeClr val="tx1"/>
                  </a:solidFill>
                </a:rPr>
                <a:t>): </a:t>
              </a:r>
              <a:r>
                <a:rPr lang="es-ES" sz="1600" i="1" dirty="0" err="1" smtClean="0">
                  <a:solidFill>
                    <a:schemeClr val="tx1"/>
                  </a:solidFill>
                </a:rPr>
                <a:t>Sobreexpresados</a:t>
              </a:r>
              <a:r>
                <a:rPr lang="es-ES" sz="1600" i="1" dirty="0" smtClean="0">
                  <a:solidFill>
                    <a:schemeClr val="tx1"/>
                  </a:solidFill>
                </a:rPr>
                <a:t>, </a:t>
              </a:r>
              <a:r>
                <a:rPr lang="es-ES" sz="1600" i="1" dirty="0">
                  <a:solidFill>
                    <a:schemeClr val="tx1"/>
                  </a:solidFill>
                </a:rPr>
                <a:t>con </a:t>
              </a:r>
              <a:r>
                <a:rPr lang="es-ES" sz="1600" i="1" dirty="0" smtClean="0">
                  <a:solidFill>
                    <a:schemeClr val="tx1"/>
                  </a:solidFill>
                </a:rPr>
                <a:t>log2FC positivos: </a:t>
              </a:r>
              <a:r>
                <a:rPr lang="es-ES" sz="1600" i="1" dirty="0">
                  <a:solidFill>
                    <a:schemeClr val="tx1"/>
                  </a:solidFill>
                </a:rPr>
                <a:t>FTO </a:t>
              </a:r>
              <a:r>
                <a:rPr lang="es-ES" sz="1600" i="1" dirty="0" smtClean="0">
                  <a:solidFill>
                    <a:schemeClr val="tx1"/>
                  </a:solidFill>
                </a:rPr>
                <a:t>(+3.76</a:t>
              </a:r>
              <a:r>
                <a:rPr lang="es-ES" sz="1600" i="1" dirty="0">
                  <a:solidFill>
                    <a:schemeClr val="tx1"/>
                  </a:solidFill>
                </a:rPr>
                <a:t>) y MC4R </a:t>
              </a:r>
              <a:r>
                <a:rPr lang="es-ES" sz="1600" i="1" dirty="0" smtClean="0">
                  <a:solidFill>
                    <a:schemeClr val="tx1"/>
                  </a:solidFill>
                </a:rPr>
                <a:t>(+</a:t>
              </a:r>
              <a:r>
                <a:rPr lang="es-ES" sz="1600" i="1" dirty="0">
                  <a:solidFill>
                    <a:schemeClr val="tx1"/>
                  </a:solidFill>
                </a:rPr>
                <a:t>2.80). </a:t>
              </a:r>
              <a:r>
                <a:rPr lang="es-ES" sz="1600" i="1" dirty="0" err="1">
                  <a:solidFill>
                    <a:schemeClr val="tx1"/>
                  </a:solidFill>
                </a:rPr>
                <a:t>Subexpresados</a:t>
              </a:r>
              <a:r>
                <a:rPr lang="es-ES" sz="1600" i="1" dirty="0">
                  <a:solidFill>
                    <a:schemeClr val="tx1"/>
                  </a:solidFill>
                </a:rPr>
                <a:t>: CADM2 (−8.88), NTRK2 (−8.89), LEP (−7.50) y FABP4 (−3.90). El </a:t>
              </a:r>
              <a:r>
                <a:rPr lang="es-ES" sz="1600" i="1" dirty="0" err="1">
                  <a:solidFill>
                    <a:schemeClr val="tx1"/>
                  </a:solidFill>
                </a:rPr>
                <a:t>heatmap</a:t>
              </a:r>
              <a:r>
                <a:rPr lang="es-ES" sz="1600" i="1" dirty="0">
                  <a:solidFill>
                    <a:schemeClr val="tx1"/>
                  </a:solidFill>
                </a:rPr>
                <a:t> mostró separación clara entre grupos. El enriquecimiento funcional no alcanzó significancia, atribuible al tamaño reducido del panel</a:t>
              </a:r>
              <a:r>
                <a:rPr lang="es-ES" sz="1600" i="1" dirty="0" smtClean="0">
                  <a:solidFill>
                    <a:schemeClr val="tx1"/>
                  </a:solidFill>
                </a:rPr>
                <a:t>. Pipeline </a:t>
              </a:r>
              <a:r>
                <a:rPr lang="es-ES" sz="1600" i="1" dirty="0">
                  <a:solidFill>
                    <a:schemeClr val="tx1"/>
                  </a:solidFill>
                </a:rPr>
                <a:t>B (8 </a:t>
              </a:r>
              <a:r>
                <a:rPr lang="es-ES" sz="1600" i="1" dirty="0" err="1">
                  <a:solidFill>
                    <a:schemeClr val="tx1"/>
                  </a:solidFill>
                </a:rPr>
                <a:t>DEGs</a:t>
              </a:r>
              <a:r>
                <a:rPr lang="es-ES" sz="1600" i="1" dirty="0">
                  <a:solidFill>
                    <a:schemeClr val="tx1"/>
                  </a:solidFill>
                </a:rPr>
                <a:t>): </a:t>
              </a:r>
              <a:r>
                <a:rPr lang="es-ES" sz="1600" i="1" dirty="0" err="1">
                  <a:solidFill>
                    <a:schemeClr val="tx1"/>
                  </a:solidFill>
                </a:rPr>
                <a:t>Sobreexpresados</a:t>
              </a:r>
              <a:r>
                <a:rPr lang="es-ES" sz="1600" i="1" dirty="0">
                  <a:solidFill>
                    <a:schemeClr val="tx1"/>
                  </a:solidFill>
                </a:rPr>
                <a:t>: MC4R, FTO, SIM1, UBR2. </a:t>
              </a:r>
              <a:r>
                <a:rPr lang="es-ES" sz="1600" i="1" dirty="0" err="1">
                  <a:solidFill>
                    <a:schemeClr val="tx1"/>
                  </a:solidFill>
                </a:rPr>
                <a:t>Subexpresados</a:t>
              </a:r>
              <a:r>
                <a:rPr lang="es-ES" sz="1600" i="1" dirty="0">
                  <a:solidFill>
                    <a:schemeClr val="tx1"/>
                  </a:solidFill>
                </a:rPr>
                <a:t>: LEP, BDNF, NTRK2, CADM2. MC4R fue el más significativo (log2FC = +1.07; </a:t>
              </a:r>
              <a:r>
                <a:rPr lang="es-ES" sz="1600" i="1" dirty="0" err="1">
                  <a:solidFill>
                    <a:schemeClr val="tx1"/>
                  </a:solidFill>
                </a:rPr>
                <a:t>padj</a:t>
              </a:r>
              <a:r>
                <a:rPr lang="es-ES" sz="1600" i="1" dirty="0">
                  <a:solidFill>
                    <a:schemeClr val="tx1"/>
                  </a:solidFill>
                </a:rPr>
                <a:t> = 1.7×10⁻⁶). El </a:t>
              </a:r>
              <a:r>
                <a:rPr lang="es-ES" sz="1600" i="1" dirty="0" err="1">
                  <a:solidFill>
                    <a:schemeClr val="tx1"/>
                  </a:solidFill>
                </a:rPr>
                <a:t>clustering</a:t>
              </a:r>
              <a:r>
                <a:rPr lang="es-ES" sz="1600" i="1" dirty="0">
                  <a:solidFill>
                    <a:schemeClr val="tx1"/>
                  </a:solidFill>
                </a:rPr>
                <a:t> jerárquico separó correctamente ambos grupos</a:t>
              </a:r>
              <a:r>
                <a:rPr lang="es-ES" sz="1600" i="1" dirty="0" smtClean="0">
                  <a:solidFill>
                    <a:schemeClr val="tx1"/>
                  </a:solidFill>
                </a:rPr>
                <a:t>. Concordancia </a:t>
              </a:r>
              <a:r>
                <a:rPr lang="es-ES" sz="1600" i="1" dirty="0">
                  <a:solidFill>
                    <a:schemeClr val="tx1"/>
                  </a:solidFill>
                </a:rPr>
                <a:t>entre pipelines: 5 de los 6 </a:t>
              </a:r>
              <a:r>
                <a:rPr lang="es-ES" sz="1600" i="1" dirty="0" err="1">
                  <a:solidFill>
                    <a:schemeClr val="tx1"/>
                  </a:solidFill>
                </a:rPr>
                <a:t>DEGs</a:t>
              </a:r>
              <a:r>
                <a:rPr lang="es-ES" sz="1600" i="1" dirty="0">
                  <a:solidFill>
                    <a:schemeClr val="tx1"/>
                  </a:solidFill>
                </a:rPr>
                <a:t> del Pipeline A coinciden con el Pipeline B (MC4R, FTO, LEP, CADM2, NTRK2), representando una concordancia del 83%. Las diferencias residuales (FABP4 exclusivo de Pipeline A; SIM1, UBR2 y BDNF exclusivos de Pipeline B) reflejan diferencias en sensibilidad estadística entre métodos.</a:t>
              </a:r>
              <a:endParaRPr lang="es-ES_tradnl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D2CE81C2-DE7D-86C0-BE63-0B1C502B9BDA}"/>
                </a:ext>
              </a:extLst>
            </p:cNvPr>
            <p:cNvSpPr/>
            <p:nvPr/>
          </p:nvSpPr>
          <p:spPr>
            <a:xfrm>
              <a:off x="518258" y="8290675"/>
              <a:ext cx="5838092" cy="374537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RESULTADOS</a:t>
              </a: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D59CAA55-5763-DE38-517F-B4583DC84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0939" y="-145902"/>
            <a:ext cx="2038411" cy="1227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7943CC5D-1654-184E-A7EC-A76F98FA9E8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-5895"/>
            <a:ext cx="2798064" cy="1896712"/>
            <a:chOff x="0" y="-5895"/>
            <a:chExt cx="4834200" cy="327693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7E5760BA-D4D0-7C9E-76ED-065ED1139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5895"/>
              <a:ext cx="4834200" cy="3276938"/>
            </a:xfrm>
            <a:prstGeom prst="rect">
              <a:avLst/>
            </a:prstGeom>
          </p:spPr>
        </p:pic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4D86C97A-A2AB-20A7-3EB2-1F46C5416136}"/>
                </a:ext>
              </a:extLst>
            </p:cNvPr>
            <p:cNvSpPr/>
            <p:nvPr/>
          </p:nvSpPr>
          <p:spPr>
            <a:xfrm>
              <a:off x="964642" y="1549130"/>
              <a:ext cx="2257529" cy="671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70138B42-E335-E05D-E193-37141538289E}"/>
              </a:ext>
            </a:extLst>
          </p:cNvPr>
          <p:cNvSpPr/>
          <p:nvPr/>
        </p:nvSpPr>
        <p:spPr>
          <a:xfrm>
            <a:off x="500673" y="949454"/>
            <a:ext cx="12228757" cy="1597826"/>
          </a:xfrm>
          <a:prstGeom prst="roundRect">
            <a:avLst>
              <a:gd name="adj" fmla="val 9702"/>
            </a:avLst>
          </a:prstGeom>
          <a:solidFill>
            <a:srgbClr val="4196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tlCol="0" anchor="ctr"/>
          <a:lstStyle/>
          <a:p>
            <a:pPr algn="ctr"/>
            <a:r>
              <a:rPr lang="es-ES" sz="2800" b="1" dirty="0">
                <a:solidFill>
                  <a:schemeClr val="bg1"/>
                </a:solidFill>
              </a:rPr>
              <a:t>Análisis de expresión diferencial de genes relacionados </a:t>
            </a:r>
            <a:endParaRPr lang="es-ES" sz="2800" b="1" dirty="0" smtClean="0">
              <a:solidFill>
                <a:schemeClr val="bg1"/>
              </a:solidFill>
            </a:endParaRPr>
          </a:p>
          <a:p>
            <a:pPr algn="ctr"/>
            <a:r>
              <a:rPr lang="es-ES" sz="2800" b="1" dirty="0" smtClean="0">
                <a:solidFill>
                  <a:schemeClr val="bg1"/>
                </a:solidFill>
              </a:rPr>
              <a:t>con </a:t>
            </a:r>
            <a:r>
              <a:rPr lang="es-ES" sz="2800" b="1" dirty="0">
                <a:solidFill>
                  <a:schemeClr val="bg1"/>
                </a:solidFill>
              </a:rPr>
              <a:t>la obesidad mediante RNA-</a:t>
            </a:r>
            <a:r>
              <a:rPr lang="es-ES" sz="2800" b="1" dirty="0" err="1">
                <a:solidFill>
                  <a:schemeClr val="bg1"/>
                </a:solidFill>
              </a:rPr>
              <a:t>seq</a:t>
            </a:r>
            <a:endParaRPr lang="es-ES_tradnl" sz="2800" b="1" dirty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" sz="2000" b="1" i="1" dirty="0" smtClean="0">
                <a:solidFill>
                  <a:schemeClr val="bg1"/>
                </a:solidFill>
              </a:rPr>
              <a:t>Secuenciación y </a:t>
            </a:r>
            <a:r>
              <a:rPr lang="es-ES" sz="2000" b="1" i="1" dirty="0" err="1" smtClean="0">
                <a:solidFill>
                  <a:schemeClr val="bg1"/>
                </a:solidFill>
              </a:rPr>
              <a:t>Ómicas</a:t>
            </a:r>
            <a:r>
              <a:rPr lang="es-ES" sz="2000" b="1" i="1" dirty="0" smtClean="0">
                <a:solidFill>
                  <a:schemeClr val="bg1"/>
                </a:solidFill>
              </a:rPr>
              <a:t> de Próxima Generación</a:t>
            </a:r>
            <a:endParaRPr lang="es-ES_tradnl" sz="2000" b="1" i="1" dirty="0" smtClean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_tradnl" sz="1400" b="1" i="1" dirty="0" err="1" smtClean="0">
                <a:solidFill>
                  <a:schemeClr val="bg1"/>
                </a:solidFill>
              </a:rPr>
              <a:t>Analia</a:t>
            </a:r>
            <a:r>
              <a:rPr lang="es-ES_tradnl" sz="1400" b="1" i="1" dirty="0" smtClean="0">
                <a:solidFill>
                  <a:schemeClr val="bg1"/>
                </a:solidFill>
              </a:rPr>
              <a:t> Verónica Pastrana, </a:t>
            </a:r>
            <a:r>
              <a:rPr lang="es-ES_tradnl" sz="1400" b="1" i="1" dirty="0" err="1" smtClean="0">
                <a:solidFill>
                  <a:schemeClr val="bg1"/>
                </a:solidFill>
              </a:rPr>
              <a:t>Caren</a:t>
            </a:r>
            <a:r>
              <a:rPr lang="es-ES_tradnl" sz="1400" b="1" i="1" dirty="0" smtClean="0">
                <a:solidFill>
                  <a:schemeClr val="bg1"/>
                </a:solidFill>
              </a:rPr>
              <a:t> Nicole Moreno,  Ángel Guerrero</a:t>
            </a:r>
          </a:p>
          <a:p>
            <a:pPr algn="ctr">
              <a:lnSpc>
                <a:spcPct val="80000"/>
              </a:lnSpc>
            </a:pPr>
            <a:r>
              <a:rPr lang="es-ES_tradnl" sz="1400" b="1" i="1" dirty="0" smtClean="0">
                <a:solidFill>
                  <a:schemeClr val="bg1"/>
                </a:solidFill>
              </a:rPr>
              <a:t>Universidad Internacional de La Rioja (UNIR)</a:t>
            </a:r>
            <a:endParaRPr lang="es-ES_tradnl" sz="1400" b="1" i="1" dirty="0">
              <a:solidFill>
                <a:schemeClr val="bg1"/>
              </a:solidFill>
            </a:endParaRP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2C6C9477-586D-D4FB-ADEE-063D77B3A812}"/>
              </a:ext>
            </a:extLst>
          </p:cNvPr>
          <p:cNvGrpSpPr/>
          <p:nvPr/>
        </p:nvGrpSpPr>
        <p:grpSpPr>
          <a:xfrm>
            <a:off x="131677" y="16749879"/>
            <a:ext cx="9095800" cy="4421141"/>
            <a:chOff x="209423" y="17303689"/>
            <a:chExt cx="9095800" cy="3782590"/>
          </a:xfrm>
        </p:grpSpPr>
        <p:sp>
          <p:nvSpPr>
            <p:cNvPr id="34" name="Rectángulo redondeado 33">
              <a:extLst>
                <a:ext uri="{FF2B5EF4-FFF2-40B4-BE49-F238E27FC236}">
                  <a16:creationId xmlns:a16="http://schemas.microsoft.com/office/drawing/2014/main" id="{1B34C5B1-3A9B-391B-803D-711026F44639}"/>
                </a:ext>
              </a:extLst>
            </p:cNvPr>
            <p:cNvSpPr/>
            <p:nvPr/>
          </p:nvSpPr>
          <p:spPr>
            <a:xfrm>
              <a:off x="209423" y="17558059"/>
              <a:ext cx="9095800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MX" sz="1600" i="1" dirty="0" smtClean="0">
                  <a:solidFill>
                    <a:schemeClr val="tx1"/>
                  </a:solidFill>
                </a:rPr>
                <a:t>Los </a:t>
              </a:r>
              <a:r>
                <a:rPr lang="es-MX" sz="1600" i="1" dirty="0" err="1">
                  <a:solidFill>
                    <a:schemeClr val="tx1"/>
                  </a:solidFill>
                </a:rPr>
                <a:t>DEGs</a:t>
              </a:r>
              <a:r>
                <a:rPr lang="es-MX" sz="1600" i="1" dirty="0">
                  <a:solidFill>
                    <a:schemeClr val="tx1"/>
                  </a:solidFill>
                </a:rPr>
                <a:t> identificados corresponden a genes asociados con obesidad </a:t>
              </a:r>
              <a:r>
                <a:rPr lang="es-MX" sz="1600" i="1" dirty="0" err="1">
                  <a:solidFill>
                    <a:schemeClr val="tx1"/>
                  </a:solidFill>
                </a:rPr>
                <a:t>monogénica</a:t>
              </a:r>
              <a:r>
                <a:rPr lang="es-MX" sz="1600" i="1" dirty="0">
                  <a:solidFill>
                    <a:schemeClr val="tx1"/>
                  </a:solidFill>
                </a:rPr>
                <a:t> y </a:t>
              </a:r>
              <a:r>
                <a:rPr lang="es-MX" sz="1600" i="1" dirty="0" err="1">
                  <a:solidFill>
                    <a:schemeClr val="tx1"/>
                  </a:solidFill>
                </a:rPr>
                <a:t>poligénica</a:t>
              </a:r>
              <a:r>
                <a:rPr lang="es-MX" sz="1600" i="1" dirty="0">
                  <a:solidFill>
                    <a:schemeClr val="tx1"/>
                  </a:solidFill>
                </a:rPr>
                <a:t> (</a:t>
              </a:r>
              <a:r>
                <a:rPr lang="es-MX" sz="1600" i="1" dirty="0" err="1">
                  <a:solidFill>
                    <a:schemeClr val="tx1"/>
                  </a:solidFill>
                </a:rPr>
                <a:t>Mahmoud</a:t>
              </a:r>
              <a:r>
                <a:rPr lang="es-MX" sz="1600" i="1" dirty="0">
                  <a:solidFill>
                    <a:schemeClr val="tx1"/>
                  </a:solidFill>
                </a:rPr>
                <a:t> et al., 2022), respaldando la validez biológica del perfil </a:t>
              </a:r>
              <a:r>
                <a:rPr lang="es-MX" sz="1600" i="1" dirty="0" err="1">
                  <a:solidFill>
                    <a:schemeClr val="tx1"/>
                  </a:solidFill>
                </a:rPr>
                <a:t>transcriptómico</a:t>
              </a:r>
              <a:r>
                <a:rPr lang="es-MX" sz="1600" i="1" dirty="0">
                  <a:solidFill>
                    <a:schemeClr val="tx1"/>
                  </a:solidFill>
                </a:rPr>
                <a:t> de Obeso2. La concordancia del 83% entre pipelines (MC4R, FTO, LEP, CADM2 y NTRK2) refuerza la robustez de los resultados: ambos enfoques convergen en señalar la disfunción del eje </a:t>
              </a:r>
              <a:r>
                <a:rPr lang="es-MX" sz="1600" i="1" dirty="0" err="1">
                  <a:solidFill>
                    <a:schemeClr val="tx1"/>
                  </a:solidFill>
                </a:rPr>
                <a:t>leptina-melanocortina</a:t>
              </a:r>
              <a:r>
                <a:rPr lang="es-MX" sz="1600" i="1" dirty="0">
                  <a:solidFill>
                    <a:schemeClr val="tx1"/>
                  </a:solidFill>
                </a:rPr>
                <a:t> como hallazgo central. La </a:t>
              </a:r>
              <a:r>
                <a:rPr lang="es-MX" sz="1600" i="1" dirty="0" err="1">
                  <a:solidFill>
                    <a:schemeClr val="tx1"/>
                  </a:solidFill>
                </a:rPr>
                <a:t>subexpresión</a:t>
              </a:r>
              <a:r>
                <a:rPr lang="es-MX" sz="1600" i="1" dirty="0">
                  <a:solidFill>
                    <a:schemeClr val="tx1"/>
                  </a:solidFill>
                </a:rPr>
                <a:t> de LEP junto con la sobreexpresión de MC4R y SIM1 es consistente con alteraciones en la regulación hipotalámica del apetito (</a:t>
              </a:r>
              <a:r>
                <a:rPr lang="es-MX" sz="1600" i="1" dirty="0" err="1">
                  <a:solidFill>
                    <a:schemeClr val="tx1"/>
                  </a:solidFill>
                </a:rPr>
                <a:t>Abuzzahab</a:t>
              </a:r>
              <a:r>
                <a:rPr lang="es-MX" sz="1600" i="1" dirty="0">
                  <a:solidFill>
                    <a:schemeClr val="tx1"/>
                  </a:solidFill>
                </a:rPr>
                <a:t> et al., 2025; Al </a:t>
              </a:r>
              <a:r>
                <a:rPr lang="es-MX" sz="1600" i="1" dirty="0" err="1">
                  <a:solidFill>
                    <a:schemeClr val="tx1"/>
                  </a:solidFill>
                </a:rPr>
                <a:t>Zein</a:t>
              </a:r>
              <a:r>
                <a:rPr lang="es-MX" sz="1600" i="1" dirty="0">
                  <a:solidFill>
                    <a:schemeClr val="tx1"/>
                  </a:solidFill>
                </a:rPr>
                <a:t> et al., 2024), mientras que FTO </a:t>
              </a:r>
              <a:r>
                <a:rPr lang="es-MX" sz="1600" i="1" dirty="0" err="1">
                  <a:solidFill>
                    <a:schemeClr val="tx1"/>
                  </a:solidFill>
                </a:rPr>
                <a:t>sobreexpresado</a:t>
              </a:r>
              <a:r>
                <a:rPr lang="es-MX" sz="1600" i="1" dirty="0">
                  <a:solidFill>
                    <a:schemeClr val="tx1"/>
                  </a:solidFill>
                </a:rPr>
                <a:t> participa en esta misma vía mediante modificaciones </a:t>
              </a:r>
              <a:r>
                <a:rPr lang="es-MX" sz="1600" i="1" dirty="0" err="1">
                  <a:solidFill>
                    <a:schemeClr val="tx1"/>
                  </a:solidFill>
                </a:rPr>
                <a:t>epitranscriptómicas</a:t>
              </a:r>
              <a:r>
                <a:rPr lang="es-MX" sz="1600" i="1" dirty="0">
                  <a:solidFill>
                    <a:schemeClr val="tx1"/>
                  </a:solidFill>
                </a:rPr>
                <a:t> de m6A (</a:t>
              </a:r>
              <a:r>
                <a:rPr lang="es-MX" sz="1600" i="1" dirty="0" err="1">
                  <a:solidFill>
                    <a:schemeClr val="tx1"/>
                  </a:solidFill>
                </a:rPr>
                <a:t>Benak</a:t>
              </a:r>
              <a:r>
                <a:rPr lang="es-MX" sz="1600" i="1" dirty="0">
                  <a:solidFill>
                    <a:schemeClr val="tx1"/>
                  </a:solidFill>
                </a:rPr>
                <a:t> et al., 2024). La </a:t>
              </a:r>
              <a:r>
                <a:rPr lang="es-MX" sz="1600" i="1" dirty="0" err="1">
                  <a:solidFill>
                    <a:schemeClr val="tx1"/>
                  </a:solidFill>
                </a:rPr>
                <a:t>co-subexpresión</a:t>
              </a:r>
              <a:r>
                <a:rPr lang="es-MX" sz="1600" i="1" dirty="0">
                  <a:solidFill>
                    <a:schemeClr val="tx1"/>
                  </a:solidFill>
                </a:rPr>
                <a:t> de BDNF y NTRK2 apunta a una alteración del eje </a:t>
              </a:r>
              <a:r>
                <a:rPr lang="es-MX" sz="1600" i="1" dirty="0" err="1">
                  <a:solidFill>
                    <a:schemeClr val="tx1"/>
                  </a:solidFill>
                </a:rPr>
                <a:t>neurotrófico</a:t>
              </a:r>
              <a:r>
                <a:rPr lang="es-MX" sz="1600" i="1" dirty="0">
                  <a:solidFill>
                    <a:schemeClr val="tx1"/>
                  </a:solidFill>
                </a:rPr>
                <a:t> hipotalámico (Barde, 2025), y CADM2 ha sido reportado como locus de susceptibilidad al IMC en estudios GWAS (</a:t>
              </a:r>
              <a:r>
                <a:rPr lang="es-MX" sz="1600" i="1" dirty="0" err="1">
                  <a:solidFill>
                    <a:schemeClr val="tx1"/>
                  </a:solidFill>
                </a:rPr>
                <a:t>Rong</a:t>
              </a:r>
              <a:r>
                <a:rPr lang="es-MX" sz="1600" i="1" dirty="0">
                  <a:solidFill>
                    <a:schemeClr val="tx1"/>
                  </a:solidFill>
                </a:rPr>
                <a:t> &amp; </a:t>
              </a:r>
              <a:r>
                <a:rPr lang="es-MX" sz="1600" i="1" dirty="0" err="1">
                  <a:solidFill>
                    <a:schemeClr val="tx1"/>
                  </a:solidFill>
                </a:rPr>
                <a:t>Yu</a:t>
              </a:r>
              <a:r>
                <a:rPr lang="es-MX" sz="1600" i="1" dirty="0">
                  <a:solidFill>
                    <a:schemeClr val="tx1"/>
                  </a:solidFill>
                </a:rPr>
                <a:t>, 2023). Las diferencias residuales entre pipelines son atribuibles a variaciones en sensibilidad estadística y al origen simulado de los datos. Limitaciones: n=3 por grupo, datos simulados y ausencia de caracterización funcional de UBR2 en obesidad</a:t>
              </a:r>
              <a:r>
                <a:rPr lang="es-MX" sz="1600" i="1" dirty="0" smtClean="0">
                  <a:solidFill>
                    <a:schemeClr val="tx1"/>
                  </a:solidFill>
                </a:rPr>
                <a:t>.</a:t>
              </a:r>
              <a:endParaRPr lang="es-MX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35" name="Rectángulo redondeado 34">
              <a:extLst>
                <a:ext uri="{FF2B5EF4-FFF2-40B4-BE49-F238E27FC236}">
                  <a16:creationId xmlns:a16="http://schemas.microsoft.com/office/drawing/2014/main" id="{3BC039B6-C9D2-02F3-8F27-C85043A7CC84}"/>
                </a:ext>
              </a:extLst>
            </p:cNvPr>
            <p:cNvSpPr/>
            <p:nvPr/>
          </p:nvSpPr>
          <p:spPr>
            <a:xfrm>
              <a:off x="518258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DISCUSIÓN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7CDA7380-1384-C476-FC20-7A4A09E7B7FE}"/>
              </a:ext>
            </a:extLst>
          </p:cNvPr>
          <p:cNvGrpSpPr/>
          <p:nvPr/>
        </p:nvGrpSpPr>
        <p:grpSpPr>
          <a:xfrm>
            <a:off x="9447534" y="16782360"/>
            <a:ext cx="5366712" cy="4315754"/>
            <a:chOff x="7784856" y="17303689"/>
            <a:chExt cx="7109314" cy="4113940"/>
          </a:xfrm>
        </p:grpSpPr>
        <p:sp>
          <p:nvSpPr>
            <p:cNvPr id="37" name="Rectángulo redondeado 36">
              <a:extLst>
                <a:ext uri="{FF2B5EF4-FFF2-40B4-BE49-F238E27FC236}">
                  <a16:creationId xmlns:a16="http://schemas.microsoft.com/office/drawing/2014/main" id="{367F38DE-6476-4ED5-51AD-7070BD6A603F}"/>
                </a:ext>
              </a:extLst>
            </p:cNvPr>
            <p:cNvSpPr/>
            <p:nvPr/>
          </p:nvSpPr>
          <p:spPr>
            <a:xfrm>
              <a:off x="7784856" y="17620210"/>
              <a:ext cx="7109314" cy="3797419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MX" sz="1600" i="1" dirty="0">
                  <a:solidFill>
                    <a:schemeClr val="tx1"/>
                  </a:solidFill>
                </a:rPr>
                <a:t>Ambos pipelines validaron de forma cruzada que la obesidad en el modelo Obeso2 está estrechamente ligada a la alteración del eje </a:t>
              </a:r>
              <a:r>
                <a:rPr lang="es-MX" sz="1600" i="1" dirty="0" err="1">
                  <a:solidFill>
                    <a:schemeClr val="tx1"/>
                  </a:solidFill>
                </a:rPr>
                <a:t>leptina-melanocortina</a:t>
              </a:r>
              <a:r>
                <a:rPr lang="es-MX" sz="1600" i="1" dirty="0">
                  <a:solidFill>
                    <a:schemeClr val="tx1"/>
                  </a:solidFill>
                </a:rPr>
                <a:t>, destacando a MC4R como el nodo molecular más afectado.</a:t>
              </a:r>
            </a:p>
            <a:p>
              <a:pPr algn="just">
                <a:lnSpc>
                  <a:spcPct val="80000"/>
                </a:lnSpc>
              </a:pPr>
              <a:r>
                <a:rPr lang="es-MX" sz="1600" i="1" dirty="0">
                  <a:solidFill>
                    <a:schemeClr val="tx1"/>
                  </a:solidFill>
                </a:rPr>
                <a:t>La elevada concordancia analítica entre aproximaciones independientes (83%) confirma la reproducibilidad del estudio y mitiga los sesgos técnicos de las herramientas de bioinformática individuales.</a:t>
              </a:r>
            </a:p>
            <a:p>
              <a:pPr algn="just">
                <a:lnSpc>
                  <a:spcPct val="80000"/>
                </a:lnSpc>
              </a:pPr>
              <a:r>
                <a:rPr lang="es-MX" sz="1600" i="1" dirty="0">
                  <a:solidFill>
                    <a:schemeClr val="tx1"/>
                  </a:solidFill>
                </a:rPr>
                <a:t>El enfoque integrado de RNA-</a:t>
              </a:r>
              <a:r>
                <a:rPr lang="es-MX" sz="1600" i="1" dirty="0" err="1">
                  <a:solidFill>
                    <a:schemeClr val="tx1"/>
                  </a:solidFill>
                </a:rPr>
                <a:t>seq</a:t>
              </a:r>
              <a:r>
                <a:rPr lang="es-MX" sz="1600" i="1" dirty="0">
                  <a:solidFill>
                    <a:schemeClr val="tx1"/>
                  </a:solidFill>
                </a:rPr>
                <a:t> demostró ser una herramienta altamente precisa para diagnosticar y caracterizar firmas </a:t>
              </a:r>
              <a:r>
                <a:rPr lang="es-MX" sz="1600" i="1" dirty="0" err="1">
                  <a:solidFill>
                    <a:schemeClr val="tx1"/>
                  </a:solidFill>
                </a:rPr>
                <a:t>transcriptómicas</a:t>
              </a:r>
              <a:r>
                <a:rPr lang="es-MX" sz="1600" i="1" dirty="0">
                  <a:solidFill>
                    <a:schemeClr val="tx1"/>
                  </a:solidFill>
                </a:rPr>
                <a:t> complejas en patologías metabólicas como la obesidad.</a:t>
              </a:r>
            </a:p>
          </p:txBody>
        </p:sp>
        <p:sp>
          <p:nvSpPr>
            <p:cNvPr id="38" name="Rectángulo redondeado 37">
              <a:extLst>
                <a:ext uri="{FF2B5EF4-FFF2-40B4-BE49-F238E27FC236}">
                  <a16:creationId xmlns:a16="http://schemas.microsoft.com/office/drawing/2014/main" id="{0757AA33-190F-8E74-0CAC-D7C442BACE75}"/>
                </a:ext>
              </a:extLst>
            </p:cNvPr>
            <p:cNvSpPr/>
            <p:nvPr/>
          </p:nvSpPr>
          <p:spPr>
            <a:xfrm>
              <a:off x="8077933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CONCLUSIONES</a:t>
              </a:r>
            </a:p>
          </p:txBody>
        </p:sp>
      </p:grpSp>
      <p:sp>
        <p:nvSpPr>
          <p:cNvPr id="39" name="Rectángulo redondeado 38">
            <a:extLst>
              <a:ext uri="{FF2B5EF4-FFF2-40B4-BE49-F238E27FC236}">
                <a16:creationId xmlns:a16="http://schemas.microsoft.com/office/drawing/2014/main" id="{05ACB882-C17A-7163-5754-50C1DB29AA22}"/>
              </a:ext>
            </a:extLst>
          </p:cNvPr>
          <p:cNvSpPr/>
          <p:nvPr/>
        </p:nvSpPr>
        <p:spPr>
          <a:xfrm>
            <a:off x="324001" y="8790002"/>
            <a:ext cx="5184834" cy="155243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80000"/>
              </a:lnSpc>
              <a:defRPr/>
            </a:pPr>
            <a:r>
              <a:rPr kumimoji="0" lang="es-ES_tradnl" sz="14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1. </a:t>
            </a:r>
            <a:r>
              <a:rPr lang="es-MX" sz="1400" dirty="0">
                <a:solidFill>
                  <a:prstClr val="black"/>
                </a:solidFill>
              </a:rPr>
              <a:t>Volcano </a:t>
            </a:r>
            <a:r>
              <a:rPr lang="es-MX" sz="1400" dirty="0" err="1">
                <a:solidFill>
                  <a:prstClr val="black"/>
                </a:solidFill>
              </a:rPr>
              <a:t>plots</a:t>
            </a:r>
            <a:r>
              <a:rPr lang="es-MX" sz="1400" dirty="0">
                <a:solidFill>
                  <a:prstClr val="black"/>
                </a:solidFill>
              </a:rPr>
              <a:t> del análisis de expresión diferencial (Obeso2 vs </a:t>
            </a:r>
            <a:r>
              <a:rPr lang="es-MX" sz="1400" dirty="0" err="1">
                <a:solidFill>
                  <a:prstClr val="black"/>
                </a:solidFill>
              </a:rPr>
              <a:t>Normopeso</a:t>
            </a:r>
            <a:r>
              <a:rPr lang="es-MX" sz="1400" dirty="0">
                <a:solidFill>
                  <a:prstClr val="black"/>
                </a:solidFill>
              </a:rPr>
              <a:t>). </a:t>
            </a:r>
            <a:r>
              <a:rPr lang="es-MX" sz="1400" b="1" i="1" dirty="0">
                <a:solidFill>
                  <a:prstClr val="black"/>
                </a:solidFill>
              </a:rPr>
              <a:t>a) </a:t>
            </a:r>
            <a:r>
              <a:rPr lang="es-MX" sz="1400" dirty="0">
                <a:solidFill>
                  <a:prstClr val="black"/>
                </a:solidFill>
              </a:rPr>
              <a:t>Pipeline A: Identificación de 6 </a:t>
            </a:r>
            <a:r>
              <a:rPr lang="es-MX" sz="1400" dirty="0" err="1">
                <a:solidFill>
                  <a:prstClr val="black"/>
                </a:solidFill>
              </a:rPr>
              <a:t>DEGs</a:t>
            </a:r>
            <a:r>
              <a:rPr lang="es-MX" sz="1400" dirty="0">
                <a:solidFill>
                  <a:prstClr val="black"/>
                </a:solidFill>
              </a:rPr>
              <a:t> significativos </a:t>
            </a:r>
            <a:r>
              <a:rPr lang="es-MX" sz="1400" dirty="0" smtClean="0">
                <a:solidFill>
                  <a:prstClr val="black"/>
                </a:solidFill>
              </a:rPr>
              <a:t>(</a:t>
            </a:r>
            <a:r>
              <a:rPr lang="es-MX" sz="1400" dirty="0" err="1" smtClean="0">
                <a:solidFill>
                  <a:prstClr val="black"/>
                </a:solidFill>
              </a:rPr>
              <a:t>padj</a:t>
            </a:r>
            <a:r>
              <a:rPr lang="es-MX" sz="1400" dirty="0" smtClean="0">
                <a:solidFill>
                  <a:prstClr val="black"/>
                </a:solidFill>
              </a:rPr>
              <a:t> </a:t>
            </a:r>
            <a:r>
              <a:rPr lang="es-MX" sz="1400" dirty="0">
                <a:solidFill>
                  <a:prstClr val="black"/>
                </a:solidFill>
              </a:rPr>
              <a:t>&lt; </a:t>
            </a:r>
            <a:r>
              <a:rPr lang="es-MX" sz="1400" dirty="0" smtClean="0">
                <a:solidFill>
                  <a:prstClr val="black"/>
                </a:solidFill>
              </a:rPr>
              <a:t>0.05). </a:t>
            </a:r>
            <a:r>
              <a:rPr lang="es-MX" sz="1400" b="1" i="1" dirty="0">
                <a:solidFill>
                  <a:prstClr val="black"/>
                </a:solidFill>
              </a:rPr>
              <a:t>b)</a:t>
            </a:r>
            <a:r>
              <a:rPr lang="es-MX" sz="1400" dirty="0">
                <a:solidFill>
                  <a:prstClr val="black"/>
                </a:solidFill>
              </a:rPr>
              <a:t> Pipeline B: Identificación de 8 </a:t>
            </a:r>
            <a:r>
              <a:rPr lang="es-MX" sz="1400" dirty="0" err="1">
                <a:solidFill>
                  <a:prstClr val="black"/>
                </a:solidFill>
              </a:rPr>
              <a:t>DEGs</a:t>
            </a:r>
            <a:r>
              <a:rPr lang="es-MX" sz="1400" dirty="0">
                <a:solidFill>
                  <a:prstClr val="black"/>
                </a:solidFill>
              </a:rPr>
              <a:t> significativos </a:t>
            </a:r>
            <a:r>
              <a:rPr lang="es-MX" sz="1400" dirty="0" smtClean="0">
                <a:solidFill>
                  <a:prstClr val="black"/>
                </a:solidFill>
              </a:rPr>
              <a:t>(</a:t>
            </a:r>
            <a:r>
              <a:rPr lang="es-MX" sz="1400" dirty="0" err="1" smtClean="0">
                <a:solidFill>
                  <a:prstClr val="black"/>
                </a:solidFill>
              </a:rPr>
              <a:t>padj</a:t>
            </a:r>
            <a:r>
              <a:rPr lang="es-MX" sz="1400" dirty="0" smtClean="0">
                <a:solidFill>
                  <a:prstClr val="black"/>
                </a:solidFill>
              </a:rPr>
              <a:t> </a:t>
            </a:r>
            <a:r>
              <a:rPr lang="es-MX" sz="1400" dirty="0">
                <a:solidFill>
                  <a:prstClr val="black"/>
                </a:solidFill>
              </a:rPr>
              <a:t>&lt; 0.05, |\log_2FC| &gt; </a:t>
            </a:r>
            <a:r>
              <a:rPr lang="es-MX" sz="1400" dirty="0" smtClean="0">
                <a:solidFill>
                  <a:prstClr val="black"/>
                </a:solidFill>
              </a:rPr>
              <a:t>0.58), </a:t>
            </a:r>
            <a:r>
              <a:rPr lang="es-MX" sz="1400" dirty="0">
                <a:solidFill>
                  <a:prstClr val="black"/>
                </a:solidFill>
              </a:rPr>
              <a:t>mostrando 4 genes </a:t>
            </a:r>
            <a:r>
              <a:rPr lang="es-MX" sz="1400" dirty="0" err="1">
                <a:solidFill>
                  <a:prstClr val="black"/>
                </a:solidFill>
              </a:rPr>
              <a:t>sobreexpresados</a:t>
            </a:r>
            <a:r>
              <a:rPr lang="es-MX" sz="1400" dirty="0">
                <a:solidFill>
                  <a:prstClr val="black"/>
                </a:solidFill>
              </a:rPr>
              <a:t> (rojo) y 4 </a:t>
            </a:r>
            <a:r>
              <a:rPr lang="es-MX" sz="1400" dirty="0" err="1">
                <a:solidFill>
                  <a:prstClr val="black"/>
                </a:solidFill>
              </a:rPr>
              <a:t>subexpresados</a:t>
            </a:r>
            <a:r>
              <a:rPr lang="es-MX" sz="1400" dirty="0">
                <a:solidFill>
                  <a:prstClr val="black"/>
                </a:solidFill>
              </a:rPr>
              <a:t> (verde-azulado</a:t>
            </a:r>
            <a:r>
              <a:rPr lang="es-MX" sz="1400" dirty="0" smtClean="0">
                <a:solidFill>
                  <a:prstClr val="black"/>
                </a:solidFill>
              </a:rPr>
              <a:t>)</a:t>
            </a:r>
            <a:r>
              <a:rPr lang="es-ES" sz="1400" dirty="0">
                <a:solidFill>
                  <a:prstClr val="black"/>
                </a:solidFill>
                <a:latin typeface="Aptos" panose="02110004020202020204"/>
              </a:rPr>
              <a:t>.</a:t>
            </a:r>
            <a:endParaRPr kumimoji="0" lang="es-ES_tradn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Rectángulo redondeado 39">
            <a:extLst>
              <a:ext uri="{FF2B5EF4-FFF2-40B4-BE49-F238E27FC236}">
                <a16:creationId xmlns:a16="http://schemas.microsoft.com/office/drawing/2014/main" id="{3F03464F-6AD8-145A-F4F0-58880920BB73}"/>
              </a:ext>
            </a:extLst>
          </p:cNvPr>
          <p:cNvSpPr/>
          <p:nvPr/>
        </p:nvSpPr>
        <p:spPr>
          <a:xfrm>
            <a:off x="4806167" y="15593867"/>
            <a:ext cx="9873494" cy="88940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80000"/>
              </a:lnSpc>
              <a:defRPr/>
            </a:pPr>
            <a:r>
              <a:rPr kumimoji="0" lang="es-ES_tradnl" sz="14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2. </a:t>
            </a:r>
            <a:r>
              <a:rPr lang="es-MX" sz="1400" dirty="0" err="1">
                <a:solidFill>
                  <a:prstClr val="black"/>
                </a:solidFill>
              </a:rPr>
              <a:t>Heatmaps</a:t>
            </a:r>
            <a:r>
              <a:rPr lang="es-MX" sz="1400" dirty="0">
                <a:solidFill>
                  <a:prstClr val="black"/>
                </a:solidFill>
              </a:rPr>
              <a:t> de expresión génica VST (Z-score/cuentas normalizadas ). </a:t>
            </a:r>
            <a:r>
              <a:rPr lang="es-MX" sz="1400" b="1" i="1" dirty="0">
                <a:solidFill>
                  <a:prstClr val="black"/>
                </a:solidFill>
              </a:rPr>
              <a:t>a)</a:t>
            </a:r>
            <a:r>
              <a:rPr lang="es-MX" sz="1400" b="1" dirty="0">
                <a:solidFill>
                  <a:prstClr val="black"/>
                </a:solidFill>
              </a:rPr>
              <a:t> </a:t>
            </a:r>
            <a:r>
              <a:rPr lang="es-MX" sz="1400" dirty="0">
                <a:solidFill>
                  <a:prstClr val="black"/>
                </a:solidFill>
              </a:rPr>
              <a:t>Pipeline A: Agrupamiento de los genes compartidos con el Pipeline B. </a:t>
            </a:r>
            <a:r>
              <a:rPr lang="es-MX" sz="1400" b="1" i="1" dirty="0">
                <a:solidFill>
                  <a:prstClr val="black"/>
                </a:solidFill>
              </a:rPr>
              <a:t>b)</a:t>
            </a:r>
            <a:r>
              <a:rPr lang="es-MX" sz="1400" dirty="0">
                <a:solidFill>
                  <a:prstClr val="black"/>
                </a:solidFill>
              </a:rPr>
              <a:t> Pipeline B: Expresión de los 8 </a:t>
            </a:r>
            <a:r>
              <a:rPr lang="es-MX" sz="1400" dirty="0" err="1">
                <a:solidFill>
                  <a:prstClr val="black"/>
                </a:solidFill>
              </a:rPr>
              <a:t>DEGs</a:t>
            </a:r>
            <a:r>
              <a:rPr lang="es-MX" sz="1400" dirty="0">
                <a:solidFill>
                  <a:prstClr val="black"/>
                </a:solidFill>
              </a:rPr>
              <a:t> donde el </a:t>
            </a:r>
            <a:r>
              <a:rPr lang="es-MX" sz="1400" dirty="0" err="1">
                <a:solidFill>
                  <a:prstClr val="black"/>
                </a:solidFill>
              </a:rPr>
              <a:t>clustering</a:t>
            </a:r>
            <a:r>
              <a:rPr lang="es-MX" sz="1400" dirty="0">
                <a:solidFill>
                  <a:prstClr val="black"/>
                </a:solidFill>
              </a:rPr>
              <a:t> jerárquico separa correctamente las muestras </a:t>
            </a:r>
            <a:r>
              <a:rPr lang="es-MX" sz="1400" dirty="0" err="1">
                <a:solidFill>
                  <a:prstClr val="black"/>
                </a:solidFill>
              </a:rPr>
              <a:t>Normopeso</a:t>
            </a:r>
            <a:r>
              <a:rPr lang="es-MX" sz="1400" dirty="0">
                <a:solidFill>
                  <a:prstClr val="black"/>
                </a:solidFill>
              </a:rPr>
              <a:t> (Bart, Lisa, Maggie) de las Obeso2 (Marge, Patty, Selma).</a:t>
            </a:r>
            <a:endParaRPr kumimoji="0" lang="es-ES_tradn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BD6867B-A1D2-FC84-23DE-DA72590561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554" t="4036" r="10507"/>
          <a:stretch/>
        </p:blipFill>
        <p:spPr>
          <a:xfrm>
            <a:off x="9785984" y="11891878"/>
            <a:ext cx="4907392" cy="365952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0E3A0B8-5766-A336-93DD-B735666B87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9708" y="8476084"/>
            <a:ext cx="4844760" cy="316144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C6EAE40D-81CE-377D-D974-20DCDFD1D68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6857"/>
          <a:stretch/>
        </p:blipFill>
        <p:spPr>
          <a:xfrm>
            <a:off x="13245601" y="991892"/>
            <a:ext cx="1633170" cy="1765220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2940" y="12016008"/>
            <a:ext cx="5111293" cy="3361167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 rotWithShape="1">
          <a:blip r:embed="rId8"/>
          <a:srcRect r="27234"/>
          <a:stretch/>
        </p:blipFill>
        <p:spPr>
          <a:xfrm>
            <a:off x="5669713" y="8476084"/>
            <a:ext cx="3533844" cy="3458832"/>
          </a:xfrm>
          <a:prstGeom prst="rect">
            <a:avLst/>
          </a:prstGeom>
        </p:spPr>
      </p:pic>
      <p:pic>
        <p:nvPicPr>
          <p:cNvPr id="32" name="Imagen 31"/>
          <p:cNvPicPr>
            <a:picLocks noChangeAspect="1"/>
          </p:cNvPicPr>
          <p:nvPr/>
        </p:nvPicPr>
        <p:blipFill rotWithShape="1">
          <a:blip r:embed="rId8"/>
          <a:srcRect l="75789" t="40563" b="46034"/>
          <a:stretch/>
        </p:blipFill>
        <p:spPr>
          <a:xfrm>
            <a:off x="8011295" y="8463301"/>
            <a:ext cx="1192262" cy="470052"/>
          </a:xfrm>
          <a:prstGeom prst="rect">
            <a:avLst/>
          </a:prstGeom>
        </p:spPr>
      </p:pic>
      <p:pic>
        <p:nvPicPr>
          <p:cNvPr id="22" name="Imagen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6456" y="11104812"/>
            <a:ext cx="4310772" cy="3286329"/>
          </a:xfrm>
          <a:prstGeom prst="rect">
            <a:avLst/>
          </a:prstGeom>
        </p:spPr>
      </p:pic>
      <p:sp>
        <p:nvSpPr>
          <p:cNvPr id="42" name="Rectángulo redondeado 41">
            <a:extLst>
              <a:ext uri="{FF2B5EF4-FFF2-40B4-BE49-F238E27FC236}">
                <a16:creationId xmlns:a16="http://schemas.microsoft.com/office/drawing/2014/main" id="{05ACB882-C17A-7163-5754-50C1DB29AA22}"/>
              </a:ext>
            </a:extLst>
          </p:cNvPr>
          <p:cNvSpPr/>
          <p:nvPr/>
        </p:nvSpPr>
        <p:spPr>
          <a:xfrm>
            <a:off x="226457" y="14778494"/>
            <a:ext cx="4310771" cy="171338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80000"/>
              </a:lnSpc>
              <a:defRPr/>
            </a:pPr>
            <a:r>
              <a:rPr kumimoji="0" lang="es-ES_tradnl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</a:rPr>
              <a:t>Figura 3. </a:t>
            </a:r>
            <a:r>
              <a:rPr lang="es-MX" sz="1200" dirty="0" smtClean="0">
                <a:solidFill>
                  <a:prstClr val="black"/>
                </a:solidFill>
              </a:rPr>
              <a:t>Análisis de sobre-representación (ORA) </a:t>
            </a:r>
            <a:r>
              <a:rPr lang="es-MX" sz="1200" dirty="0" err="1" smtClean="0">
                <a:solidFill>
                  <a:prstClr val="black"/>
                </a:solidFill>
              </a:rPr>
              <a:t>Reactome</a:t>
            </a:r>
            <a:r>
              <a:rPr lang="es-MX" sz="1200" dirty="0" smtClean="0">
                <a:solidFill>
                  <a:prstClr val="black"/>
                </a:solidFill>
              </a:rPr>
              <a:t> del Pipeline A. Debido al tamaño reducido del panel (37 genes), el enriquecimiento funcional no alcanzó la significancia estadística formal ($</a:t>
            </a:r>
            <a:r>
              <a:rPr lang="es-MX" sz="1200" dirty="0" err="1" smtClean="0">
                <a:solidFill>
                  <a:prstClr val="black"/>
                </a:solidFill>
              </a:rPr>
              <a:t>padj</a:t>
            </a:r>
            <a:r>
              <a:rPr lang="es-MX" sz="1200" dirty="0" smtClean="0">
                <a:solidFill>
                  <a:prstClr val="black"/>
                </a:solidFill>
              </a:rPr>
              <a:t> &gt; 0.05$). No obstante, los </a:t>
            </a:r>
            <a:r>
              <a:rPr lang="es-MX" sz="1200" dirty="0" err="1" smtClean="0">
                <a:solidFill>
                  <a:prstClr val="black"/>
                </a:solidFill>
              </a:rPr>
              <a:t>DEGs</a:t>
            </a:r>
            <a:r>
              <a:rPr lang="es-MX" sz="1200" dirty="0" smtClean="0">
                <a:solidFill>
                  <a:prstClr val="black"/>
                </a:solidFill>
              </a:rPr>
              <a:t> se agrupan consistentemente en vías de señalización neuroendocrina y </a:t>
            </a:r>
            <a:r>
              <a:rPr lang="es-MX" sz="1200" dirty="0">
                <a:solidFill>
                  <a:prstClr val="black"/>
                </a:solidFill>
              </a:rPr>
              <a:t>regulación de la homeostasis </a:t>
            </a:r>
            <a:r>
              <a:rPr lang="es-MX" sz="1200" dirty="0" smtClean="0">
                <a:solidFill>
                  <a:prstClr val="black"/>
                </a:solidFill>
              </a:rPr>
              <a:t>energética</a:t>
            </a:r>
            <a:r>
              <a:rPr lang="es-ES" sz="1200" dirty="0" smtClean="0">
                <a:solidFill>
                  <a:prstClr val="black"/>
                </a:solidFill>
                <a:latin typeface="Aptos" panose="02110004020202020204"/>
              </a:rPr>
              <a:t>.</a:t>
            </a:r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</a:endParaRPr>
          </a:p>
        </p:txBody>
      </p:sp>
      <p:pic>
        <p:nvPicPr>
          <p:cNvPr id="1026" name="Picture 2" descr="Logotipo de github - Iconos gratis de redes sociales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0302" y="977647"/>
            <a:ext cx="505299" cy="505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/>
          <p:cNvSpPr/>
          <p:nvPr/>
        </p:nvSpPr>
        <p:spPr>
          <a:xfrm>
            <a:off x="4698106" y="11839349"/>
            <a:ext cx="504387" cy="27069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600" b="1" dirty="0" smtClean="0"/>
              <a:t>a)</a:t>
            </a:r>
            <a:endParaRPr lang="en-US" sz="1600" b="1" dirty="0"/>
          </a:p>
        </p:txBody>
      </p:sp>
      <p:sp>
        <p:nvSpPr>
          <p:cNvPr id="43" name="Rectángulo 42"/>
          <p:cNvSpPr/>
          <p:nvPr/>
        </p:nvSpPr>
        <p:spPr>
          <a:xfrm>
            <a:off x="5577544" y="8487681"/>
            <a:ext cx="504387" cy="27069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600" b="1" dirty="0" smtClean="0"/>
              <a:t>a)</a:t>
            </a:r>
            <a:endParaRPr lang="en-US" sz="1600" b="1" dirty="0"/>
          </a:p>
        </p:txBody>
      </p:sp>
      <p:sp>
        <p:nvSpPr>
          <p:cNvPr id="44" name="Rectángulo 43"/>
          <p:cNvSpPr/>
          <p:nvPr/>
        </p:nvSpPr>
        <p:spPr>
          <a:xfrm>
            <a:off x="9651840" y="8487680"/>
            <a:ext cx="504387" cy="27069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600" b="1" dirty="0" smtClean="0"/>
              <a:t>b)</a:t>
            </a:r>
            <a:endParaRPr lang="en-US" sz="1600" b="1" dirty="0"/>
          </a:p>
        </p:txBody>
      </p:sp>
      <p:sp>
        <p:nvSpPr>
          <p:cNvPr id="45" name="Rectángulo 44"/>
          <p:cNvSpPr/>
          <p:nvPr/>
        </p:nvSpPr>
        <p:spPr>
          <a:xfrm>
            <a:off x="9506499" y="11839349"/>
            <a:ext cx="504387" cy="27069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600" b="1" dirty="0"/>
              <a:t>b</a:t>
            </a:r>
            <a:r>
              <a:rPr lang="es-MX" sz="1600" b="1" dirty="0" smtClean="0"/>
              <a:t>)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0459999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D7C797EA12745A270EF30E38719B9" ma:contentTypeVersion="20" ma:contentTypeDescription="Crear nuevo documento." ma:contentTypeScope="" ma:versionID="98b23ce13f8ef13134c980882a27b8cc">
  <xsd:schema xmlns:xsd="http://www.w3.org/2001/XMLSchema" xmlns:xs="http://www.w3.org/2001/XMLSchema" xmlns:p="http://schemas.microsoft.com/office/2006/metadata/properties" xmlns:ns2="0a70e875-3d35-4be2-921f-7117c31bab9b" xmlns:ns3="27c1adeb-3674-457c-b08c-8a73f31b6e23" targetNamespace="http://schemas.microsoft.com/office/2006/metadata/properties" ma:root="true" ma:fieldsID="83d50475b18a8f95f7f8edf1c6caa3f2" ns2:_="" ns3:_="">
    <xsd:import namespace="0a70e875-3d35-4be2-921f-7117c31bab9b"/>
    <xsd:import namespace="27c1adeb-3674-457c-b08c-8a73f31b6e2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_Flow_SignoffStatu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0e875-3d35-4be2-921f-7117c31bab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7f67346-78c9-4c4d-b954-8d350fdf60db}" ma:internalName="TaxCatchAll" ma:showField="CatchAllData" ma:web="0a70e875-3d35-4be2-921f-7117c31bab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1adeb-3674-457c-b08c-8a73f31b6e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17631b59-e624-4eb7-963c-219f14f88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5" nillable="true" ma:displayName="Estado de aprobación" ma:internalName="Estado_x0020_de_x0020_aprobaci_x00f3_n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27c1adeb-3674-457c-b08c-8a73f31b6e23" xsi:nil="true"/>
    <lcf76f155ced4ddcb4097134ff3c332f xmlns="27c1adeb-3674-457c-b08c-8a73f31b6e23">
      <Terms xmlns="http://schemas.microsoft.com/office/infopath/2007/PartnerControls"/>
    </lcf76f155ced4ddcb4097134ff3c332f>
    <TaxCatchAll xmlns="0a70e875-3d35-4be2-921f-7117c31bab9b" xsi:nil="true"/>
  </documentManagement>
</p:properties>
</file>

<file path=customXml/itemProps1.xml><?xml version="1.0" encoding="utf-8"?>
<ds:datastoreItem xmlns:ds="http://schemas.openxmlformats.org/officeDocument/2006/customXml" ds:itemID="{EA933766-0056-42DC-9416-E7C06BCFC0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70e875-3d35-4be2-921f-7117c31bab9b"/>
    <ds:schemaRef ds:uri="27c1adeb-3674-457c-b08c-8a73f31b6e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E95016-93A9-4903-BA02-7A05B5939C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8B5577-5CCE-4E9D-BDFA-952900719EE2}">
  <ds:schemaRefs>
    <ds:schemaRef ds:uri="http://www.w3.org/XML/1998/namespace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0a70e875-3d35-4be2-921f-7117c31bab9b"/>
    <ds:schemaRef ds:uri="http://schemas.microsoft.com/office/2006/metadata/properties"/>
    <ds:schemaRef ds:uri="http://purl.org/dc/terms/"/>
    <ds:schemaRef ds:uri="http://schemas.microsoft.com/office/infopath/2007/PartnerControls"/>
    <ds:schemaRef ds:uri="27c1adeb-3674-457c-b08c-8a73f31b6e23"/>
  </ds:schemaRefs>
</ds:datastoreItem>
</file>

<file path=docMetadata/LabelInfo.xml><?xml version="1.0" encoding="utf-8"?>
<clbl:labelList xmlns:clbl="http://schemas.microsoft.com/office/2020/mipLabelMetadata">
  <clbl:label id="{0361ecad-3f61-4749-aa5c-87fde47ef9ad}" enabled="1" method="Privileged" siteId="{22c8b4a4-d926-43b2-bcc7-87b998590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459</TotalTime>
  <Words>911</Words>
  <Application>Microsoft Office PowerPoint</Application>
  <PresentationFormat>Personalizado</PresentationFormat>
  <Paragraphs>26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Victor  de la O Pascual</dc:creator>
  <cp:lastModifiedBy>Usuario</cp:lastModifiedBy>
  <cp:revision>38</cp:revision>
  <dcterms:created xsi:type="dcterms:W3CDTF">2025-04-21T10:03:24Z</dcterms:created>
  <dcterms:modified xsi:type="dcterms:W3CDTF">2026-05-25T02:59:30Z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0x010100DF3D7C797EA12745A270EF30E38719B9</vt:lpwstr>
  </property>
  <property fmtid="{D5CDD505-2E9C-101B-9397-08002B2CF9AE}" pid="3" name="MediaServiceImageTags">
    <vt:lpwstr/>
  </property>
</Properties>
</file>